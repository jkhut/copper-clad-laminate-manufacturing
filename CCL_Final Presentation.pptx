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JIPBG09YoJmjHYlhI1Qln4n4v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Good morning, everyone.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We are Team 1, and my name is @@@.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Today, I will present our data-driven approach to enhancing quality and efficiency in Copper Clad Laminate manufacturing.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Our team consists of Timothy Liu, Zerek Leyva, Jeet Khut, Joshua Downing, and Suk Ki Lee.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data for this project comes directly from ISOLA's production line, where our teammate Joshua works, ensuring our analysis is grounded in real-world manufacturing scenarios.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Let’s begin!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(30s)</a:t>
            </a:r>
            <a:endParaRPr/>
          </a:p>
        </p:txBody>
      </p:sp>
      <p:sp>
        <p:nvSpPr>
          <p:cNvPr id="189" name="Google Shape;189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Copper Clad Laminates, or CCLs, are critical in printed circuit board manufacturing, serving as the foundation for electronic devices.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However, the rejection rate of 1.29% far exceeds the industry target of 0.5%, driven by defects like voids, bubbles, delamination, and Hi-Pot failures.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These defects increase costs and threaten product reliability, emphasizing the need for improvements in manufacturing quality.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(30s)</a:t>
            </a:r>
            <a:endParaRPr/>
          </a:p>
        </p:txBody>
      </p:sp>
      <p:sp>
        <p:nvSpPr>
          <p:cNvPr id="200" name="Google Shape;200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As mentioned earlier, the copper-clad laminate manufacturing process struggles with a rejection rate of 1.29%, primarily due to defects like Hi-Pot failures, surface defects, voids, and contamination by foreign materials.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These issues stem from inefficiencies in the process and weak controls, leading to increased costs and reduced customer satisfaction.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Our primary objective is to address these root causes using a structured improvement process.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As shown in the diagram, this process involves evaluating the current manufacturing steps, analyzing quality parameters, implementing quality control tools, improving detection methods, and ultimately developing a model-based design.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This approach will enable us to provide effective recommendations for improvement.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(1min)</a:t>
            </a:r>
            <a:endParaRPr/>
          </a:p>
        </p:txBody>
      </p:sp>
      <p:sp>
        <p:nvSpPr>
          <p:cNvPr id="206" name="Google Shape;206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copper-clad laminate manufacturing process involves several critical steps to ensure product quality and functionality.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process begins with compounding, where resin and additives are mixed, followed by impregnation, where fiberglass is coated with resin.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Next is ply-up, preparing resin-coated rolls for lay-up, where sheets are stacked with copper foil.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pressing stage then cures the layers under heat and pressure to form laminates.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Afterward, the break-down stage separates laminates from their carriers, and finally, finishing includes cutting, inspection, and packaging.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(45s)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Data collection and quality control are essential for ensuring consistency and detecting inefficiencies in CCL manufacturing.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Each stage of the process utilizes tailored tools to monitor key parameters and gather actionable data.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In the compounding and impregnation stage, tools like rheometers measure minimum melt viscosity and gelation time, while automated optical inspection, or AOI, detects resin inconsistencies.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Laboratory scales and micrometers are used to measure resin content and treated thickness.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During ply-up and lay-up, digital checksheets ensure process consistency and automated systems support accurate layer stacking.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In the pressing stage, press cycle records and thermocouples monitor critical variables like temperature, pressure, and curing consistency.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Finally, in the break-down and finishing stage, Hi-Pot testing machines detect insulation issues, while visual inspections validate structural integrity.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Together, these tools not only ensure real-time process control but also provide valuable insights for long-term improvements.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(1min 15s)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We conducted a detailed analysis to identify inefficiencies and prioritize improvements.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Our value-added analysis revealed significant delays in the receiving and post-treating stages, contributing to non-value-added time in the production process.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To further investigate defects, we used a fishbone diagram for root cause analysis, focusing on factors like curing consistency, resin distribution, and contamination.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 Pareto analysis highlighted that Hi-Pot failures and surface defects accounted for over 70% of the rejection rate, emphasizing the need to address these issues first.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(1min)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Our recommendations focus on streamlining material handling, adopting just-in-time inventory systems, and implementing real-time monitoring tools.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These steps will refine defect detection and improve efficiency.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Through our efforts, we’ve seen enhanced resin curing profiles and improved cleanliness, leading to positive trends in defect prevention strategies, particularly after Week 23.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While progress has been made toward the 0.5% scrap rate goal, areas like curing consistency still require further refinement.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(1min)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In conclusion, we tackled key challenges in CCL manufacturing by leveraging data-driven insights and advanced quality control tools.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Our efforts focused on identifying defects, optimizing processes, and improving overall quality.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Through these strategies, we’ve made significant progress toward reducing defect rates and enhancing efficiency.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Looking forward, continued monitoring and refinement of defect detection systems, along with ongoing process optimization, will be critical to achieving and sustaining the 0.5% rejection rate goal.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These steps will ensure long-term improvements in product quality and operational efficiency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(30s)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576072" y="1124712"/>
            <a:ext cx="11036808" cy="31729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576072" y="4727448"/>
            <a:ext cx="11036808" cy="1481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5760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869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5"/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5"/>
          <p:cNvSpPr/>
          <p:nvPr/>
        </p:nvSpPr>
        <p:spPr>
          <a:xfrm flipH="1" rot="10800000">
            <a:off x="578652" y="4501201"/>
            <a:ext cx="11034696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8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8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8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9"/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9"/>
          <p:cNvSpPr txBox="1"/>
          <p:nvPr>
            <p:ph type="title"/>
          </p:nvPr>
        </p:nvSpPr>
        <p:spPr>
          <a:xfrm>
            <a:off x="557784" y="640080"/>
            <a:ext cx="10890504" cy="4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" type="body"/>
          </p:nvPr>
        </p:nvSpPr>
        <p:spPr>
          <a:xfrm>
            <a:off x="841248" y="5102352"/>
            <a:ext cx="106070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0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0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1115568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6345936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1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1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1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1115568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1"/>
          <p:cNvSpPr txBox="1"/>
          <p:nvPr>
            <p:ph idx="2" type="body"/>
          </p:nvPr>
        </p:nvSpPr>
        <p:spPr>
          <a:xfrm>
            <a:off x="1115568" y="3203688"/>
            <a:ext cx="4937760" cy="296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3" type="body"/>
          </p:nvPr>
        </p:nvSpPr>
        <p:spPr>
          <a:xfrm>
            <a:off x="6345936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1"/>
          <p:cNvSpPr txBox="1"/>
          <p:nvPr>
            <p:ph idx="4" type="body"/>
          </p:nvPr>
        </p:nvSpPr>
        <p:spPr>
          <a:xfrm>
            <a:off x="6345936" y="3203687"/>
            <a:ext cx="4937760" cy="2968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2"/>
          <p:cNvSpPr txBox="1"/>
          <p:nvPr>
            <p:ph type="title"/>
          </p:nvPr>
        </p:nvSpPr>
        <p:spPr>
          <a:xfrm>
            <a:off x="1078992" y="1938528"/>
            <a:ext cx="10177272" cy="299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4965192" y="1709928"/>
            <a:ext cx="6729984" cy="409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0" name="Google Shape;70;p14"/>
          <p:cNvSpPr txBox="1"/>
          <p:nvPr>
            <p:ph idx="2" type="body"/>
          </p:nvPr>
        </p:nvSpPr>
        <p:spPr>
          <a:xfrm>
            <a:off x="868680" y="3429000"/>
            <a:ext cx="3099816" cy="20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/>
          <p:nvPr>
            <p:ph idx="2" type="pic"/>
          </p:nvPr>
        </p:nvSpPr>
        <p:spPr>
          <a:xfrm>
            <a:off x="4965192" y="1161288"/>
            <a:ext cx="6729984" cy="4645152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868680" y="3438144"/>
            <a:ext cx="3099816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15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8" name="Google Shape;118;p18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0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0" name="Google Shape;130;p2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3" name="Google Shape;133;p20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1097278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37" name="Google Shape;137;p21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44" name="Google Shape;144;p22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46" name="Google Shape;146;p22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7" name="Google Shape;147;p2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4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0" name="Google Shape;160;p24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1" name="Google Shape;161;p24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4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5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5"/>
          <p:cNvSpPr txBox="1"/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5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D2CDB0"/>
          </a:solidFill>
          <a:ln>
            <a:noFill/>
          </a:ln>
        </p:spPr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70" name="Google Shape;170;p2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6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6" name="Google Shape;176;p2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7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84" name="Google Shape;184;p2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3" name="Google Shape;103;p6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8"/>
          <p:cNvPicPr preferRelativeResize="0"/>
          <p:nvPr/>
        </p:nvPicPr>
        <p:blipFill rotWithShape="1">
          <a:blip r:embed="rId3">
            <a:alphaModFix/>
          </a:blip>
          <a:srcRect b="-1" l="4502" r="11123" t="0"/>
          <a:stretch/>
        </p:blipFill>
        <p:spPr>
          <a:xfrm>
            <a:off x="-2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8"/>
          <p:cNvSpPr/>
          <p:nvPr/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0000">
                <a:srgbClr val="000000">
                  <a:alpha val="63529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8"/>
          <p:cNvSpPr txBox="1"/>
          <p:nvPr>
            <p:ph type="ctrTitle"/>
          </p:nvPr>
        </p:nvSpPr>
        <p:spPr>
          <a:xfrm>
            <a:off x="6862117" y="1427266"/>
            <a:ext cx="5290845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None/>
            </a:pPr>
            <a:r>
              <a:rPr lang="en-US" sz="36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Enhancing </a:t>
            </a:r>
            <a:br>
              <a:rPr lang="en-US" sz="36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Quality and Efficiency </a:t>
            </a:r>
            <a:br>
              <a:rPr lang="en-US" sz="36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Copper Clad Laminate Manufacturing: </a:t>
            </a:r>
            <a:br>
              <a:rPr lang="en-US" sz="36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Data-Driven Approach</a:t>
            </a:r>
            <a:b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8"/>
          <p:cNvSpPr/>
          <p:nvPr/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7851648" y="4565208"/>
            <a:ext cx="4143658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Team 1: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Timothy Liu,  Zerek Leyva, Jeet Khut,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Joshua Downing, Suk Ki Lee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/>
        </p:nvSpPr>
        <p:spPr>
          <a:xfrm>
            <a:off x="141893" y="131696"/>
            <a:ext cx="119029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1" i="0" sz="3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0" y="944100"/>
            <a:ext cx="12192000" cy="4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Significance of CCLs in PCB Production: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Copper Clad Laminates (CCLs) provide structural and conductive bases for Printed </a:t>
            </a:r>
            <a:r>
              <a:rPr lang="en-US" sz="2000">
                <a:solidFill>
                  <a:schemeClr val="dk1"/>
                </a:solidFill>
              </a:rPr>
              <a:t>Circuit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Boards (PCBs).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Challenges in CCL Manufacturing: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rejection rate of 1.29%, significantly exceeds the </a:t>
            </a:r>
            <a:r>
              <a:rPr lang="en-US" sz="2000">
                <a:solidFill>
                  <a:schemeClr val="dk1"/>
                </a:solidFill>
              </a:rPr>
              <a:t>manufacturers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of 0.5%, due to defects like:</a:t>
            </a:r>
            <a:endParaRPr/>
          </a:p>
          <a:p>
            <a:pPr indent="-400050" lvl="2" marL="4000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L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Voids and Bubbles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a result of poor resin distribution or trapped air.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2" marL="4000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L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Delamination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caused by inadequate adhesion or improper curing.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2" marL="4000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L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High-Potential (Hi-Pot) Failures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Indicate weak dielectric strength and insulation inconsistencies.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issues not only increase production costs but also threaten the structural integrity and functionality of electronic devices, impacting customer satisfaction and the manufacturer's reputation.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/>
        </p:nvSpPr>
        <p:spPr>
          <a:xfrm>
            <a:off x="171988" y="66125"/>
            <a:ext cx="11503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1" i="0" sz="3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0"/>
          <p:cNvSpPr txBox="1"/>
          <p:nvPr/>
        </p:nvSpPr>
        <p:spPr>
          <a:xfrm>
            <a:off x="319815" y="712625"/>
            <a:ext cx="11481000" cy="46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High rejection rate of 1.29% due to defects: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∙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Hi-Pot failures (38.56%)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∙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Surface defects (35.37%)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∙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Voids (19.56%)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∙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Foreign material (6.51%)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- Causes include environmental contamination,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 inefficiencies, and weak process controls.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Primary Objectives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- To decrease these basic causes by following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a structured improvement process</a:t>
            </a:r>
            <a:endParaRPr/>
          </a:p>
        </p:txBody>
      </p:sp>
      <p:pic>
        <p:nvPicPr>
          <p:cNvPr id="210" name="Google Shape;2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9862" y="1046364"/>
            <a:ext cx="5648859" cy="4506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/>
        </p:nvSpPr>
        <p:spPr>
          <a:xfrm>
            <a:off x="344700" y="193550"/>
            <a:ext cx="115026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Process Overview</a:t>
            </a:r>
            <a:endParaRPr b="1" i="0" sz="3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1"/>
          <p:cNvSpPr txBox="1"/>
          <p:nvPr/>
        </p:nvSpPr>
        <p:spPr>
          <a:xfrm>
            <a:off x="483750" y="943550"/>
            <a:ext cx="6313440" cy="28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Noto Sans Symbols"/>
              <a:buChar char="⮚"/>
            </a:pPr>
            <a:r>
              <a:rPr b="1" i="0" lang="en-US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Manufacturing Steps</a:t>
            </a:r>
            <a:endParaRPr b="1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Times New Roman"/>
              <a:buChar char="●"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Compounding: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Mixing resin and additives.</a:t>
            </a:r>
            <a:endParaRPr b="0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Times New Roman"/>
              <a:buChar char="●"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Impregnation: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Coating fiberglass with resin.</a:t>
            </a:r>
            <a:endParaRPr b="0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Times New Roman"/>
              <a:buChar char="●"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Ply-Up: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Sheeting prepreg rolls.</a:t>
            </a:r>
            <a:endParaRPr b="0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Times New Roman"/>
              <a:buChar char="●"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Lay-Up: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Stacking prepreg sheets with </a:t>
            </a:r>
            <a:endParaRPr b="0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copper foil.</a:t>
            </a:r>
            <a:endParaRPr b="0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Times New Roman"/>
              <a:buChar char="●"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Pressing: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Curing layers under heat and pressure.</a:t>
            </a:r>
            <a:endParaRPr b="0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Times New Roman"/>
              <a:buChar char="●"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Break-Down: 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Separating laminates from carriers.</a:t>
            </a:r>
            <a:endParaRPr b="0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Times New Roman"/>
              <a:buChar char="●"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Finishing: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Cutting, inspection, and packaging.</a:t>
            </a:r>
            <a:endParaRPr b="0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31"/>
          <p:cNvPicPr preferRelativeResize="0"/>
          <p:nvPr/>
        </p:nvPicPr>
        <p:blipFill rotWithShape="1">
          <a:blip r:embed="rId3">
            <a:alphaModFix/>
          </a:blip>
          <a:srcRect b="0" l="0" r="0" t="2552"/>
          <a:stretch/>
        </p:blipFill>
        <p:spPr>
          <a:xfrm>
            <a:off x="6168025" y="283275"/>
            <a:ext cx="5844549" cy="304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/>
        </p:nvSpPr>
        <p:spPr>
          <a:xfrm>
            <a:off x="101461" y="13856"/>
            <a:ext cx="115026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Data Collection and Quality Control Tools</a:t>
            </a:r>
            <a:endParaRPr b="1" i="0" sz="3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2"/>
          <p:cNvSpPr txBox="1"/>
          <p:nvPr/>
        </p:nvSpPr>
        <p:spPr>
          <a:xfrm>
            <a:off x="-308391" y="672573"/>
            <a:ext cx="12500391" cy="51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800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is collected and analyzed using quality control tools tailored to detect inefficiencies and defects at each stage</a:t>
            </a:r>
            <a:endParaRPr b="0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800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Compounding &amp; Impregnation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  - </a:t>
            </a:r>
            <a:r>
              <a:rPr b="0" i="0" lang="en-US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Rheometer: Monitors minimum melt viscosity and gelation time.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  - Automated Optical Inspection (AOI): Detects resin inconsistencies.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  - Laboratory Scales &amp; Micrometers: Measure resin content and treated thickness.</a:t>
            </a:r>
            <a:endParaRPr/>
          </a:p>
          <a:p>
            <a:pPr indent="-342900" lvl="0" marL="800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Ply-Up &amp; Lay-Up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  - Digital Checksheets (SAP): Track process consistency.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  - Automated Systems: Ensure accurate layer stacking.</a:t>
            </a:r>
            <a:endParaRPr/>
          </a:p>
          <a:p>
            <a:pPr indent="-342900" lvl="0" marL="800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Pressing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  - Press Cycle Records: Monitor temperature, pressure, and vacuum profiles.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  - Thermocouples: Track curing consistency.</a:t>
            </a:r>
            <a:endParaRPr/>
          </a:p>
          <a:p>
            <a:pPr indent="-342900" lvl="0" marL="800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Break-Down &amp; Finishing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  - Hi-Pot Testing Machine: Detect insulation inconsistencies.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  - Visual Inspections: Validate structural integrity.</a:t>
            </a:r>
            <a:endParaRPr/>
          </a:p>
          <a:p>
            <a:pPr indent="-330200" lvl="0" marL="800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These tools not only ensure process control but also provide actionable data for real-time monitoring and long-term improvements.</a:t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9875" y="1624750"/>
            <a:ext cx="2704176" cy="360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/>
        </p:nvSpPr>
        <p:spPr>
          <a:xfrm>
            <a:off x="126200" y="62921"/>
            <a:ext cx="115026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Data Analysis and Insights</a:t>
            </a:r>
            <a:endParaRPr b="1" i="0" sz="28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33"/>
          <p:cNvSpPr txBox="1"/>
          <p:nvPr/>
        </p:nvSpPr>
        <p:spPr>
          <a:xfrm>
            <a:off x="280025" y="943550"/>
            <a:ext cx="5718900" cy="25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Flow Chart Value-Added Analysis: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Breakdown of process steps into value-added and non-value-added time.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Highlight inefficiencies, e.g., delays in receiving and post-treating stages.</a:t>
            </a:r>
            <a:endParaRPr/>
          </a:p>
          <a:p>
            <a:pPr indent="-158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Fishbone Diagram: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cause analysis for major defects like Hi-Pot failures and surface inconsistencies.</a:t>
            </a:r>
            <a:endParaRPr/>
          </a:p>
          <a:p>
            <a:pPr indent="-158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Pareto Analysis (Pie Graph):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Visualization of defect contributions: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Hi-Pot failures: 38.56%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Surface defects: 35.37%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Voids: 19.56%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Foreign material: 6.51%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1" name="Google Shape;23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7513" y="695410"/>
            <a:ext cx="6245682" cy="1691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8335" y="2386941"/>
            <a:ext cx="5121543" cy="2265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3"/>
          <p:cNvPicPr preferRelativeResize="0"/>
          <p:nvPr/>
        </p:nvPicPr>
        <p:blipFill rotWithShape="1">
          <a:blip r:embed="rId5">
            <a:alphaModFix/>
          </a:blip>
          <a:srcRect b="1563" l="0" r="0" t="1891"/>
          <a:stretch/>
        </p:blipFill>
        <p:spPr>
          <a:xfrm>
            <a:off x="7077024" y="4652674"/>
            <a:ext cx="3846674" cy="208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/>
        </p:nvSpPr>
        <p:spPr>
          <a:xfrm>
            <a:off x="126200" y="62921"/>
            <a:ext cx="115026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Recommendations and Outcomes</a:t>
            </a:r>
            <a:endParaRPr/>
          </a:p>
        </p:txBody>
      </p:sp>
      <p:sp>
        <p:nvSpPr>
          <p:cNvPr id="239" name="Google Shape;239;p34"/>
          <p:cNvSpPr txBox="1"/>
          <p:nvPr/>
        </p:nvSpPr>
        <p:spPr>
          <a:xfrm>
            <a:off x="208979" y="998265"/>
            <a:ext cx="6754875" cy="25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Recommendations: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Streamline material handling processes.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Adopt just-in-time inventory systems.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 real-time monitoring systems.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Continue refining defect detection methods.</a:t>
            </a:r>
            <a:endParaRPr/>
          </a:p>
          <a:p>
            <a:pPr indent="-158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Outcomes and Findings: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Enhanced resin curing profiles and cleanliness.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 trends in defect prevention strategies after Week 23.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Progress toward achieving the 0.5% scrap rate goal.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Identified areas for further refinement in curing consistency.</a:t>
            </a:r>
            <a:endParaRPr/>
          </a:p>
        </p:txBody>
      </p:sp>
      <p:pic>
        <p:nvPicPr>
          <p:cNvPr id="240" name="Google Shape;240;p34"/>
          <p:cNvPicPr preferRelativeResize="0"/>
          <p:nvPr/>
        </p:nvPicPr>
        <p:blipFill rotWithShape="1">
          <a:blip r:embed="rId3">
            <a:alphaModFix/>
          </a:blip>
          <a:srcRect b="2181" l="1088" r="20590" t="824"/>
          <a:stretch/>
        </p:blipFill>
        <p:spPr>
          <a:xfrm>
            <a:off x="6815700" y="1168638"/>
            <a:ext cx="5219950" cy="452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/>
          <p:nvPr/>
        </p:nvSpPr>
        <p:spPr>
          <a:xfrm>
            <a:off x="126200" y="62921"/>
            <a:ext cx="115026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1" i="0" sz="28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35"/>
          <p:cNvSpPr txBox="1"/>
          <p:nvPr/>
        </p:nvSpPr>
        <p:spPr>
          <a:xfrm>
            <a:off x="473063" y="1337375"/>
            <a:ext cx="10809000" cy="25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 of Objectives and Achievements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Addressed challenges in CCL manufacturing through data-driven insights.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Focused on defect identification, process optimization, and quality improvement.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Implemented advanced statistical and quality control tools.</a:t>
            </a:r>
            <a:endParaRPr/>
          </a:p>
          <a:p>
            <a:pPr indent="-158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Steps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Continued monitoring and refinement of defect detection systems.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 optimization to meet and sustain the 0.5% rejection rate goal.</a:t>
            </a:r>
            <a:endParaRPr b="0" i="0" sz="32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/>
        </p:nvSpPr>
        <p:spPr>
          <a:xfrm>
            <a:off x="344700" y="193550"/>
            <a:ext cx="115026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1" i="0" sz="3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6"/>
          <p:cNvSpPr txBox="1"/>
          <p:nvPr/>
        </p:nvSpPr>
        <p:spPr>
          <a:xfrm>
            <a:off x="483750" y="943550"/>
            <a:ext cx="11224500" cy="50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3" name="Google Shape;253;p36"/>
          <p:cNvPicPr preferRelativeResize="0"/>
          <p:nvPr/>
        </p:nvPicPr>
        <p:blipFill rotWithShape="1">
          <a:blip r:embed="rId3">
            <a:alphaModFix/>
          </a:blip>
          <a:srcRect b="26852" l="0" r="0" t="0"/>
          <a:stretch/>
        </p:blipFill>
        <p:spPr>
          <a:xfrm>
            <a:off x="1384274" y="883077"/>
            <a:ext cx="9423475" cy="540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2024-12-04T00:39:21Z</dcterms:created>
  <dc:creator>Jeet Ramesh Khut (Student)</dc:creator>
</cp:coreProperties>
</file>